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C9D"/>
    <a:srgbClr val="05C283"/>
    <a:srgbClr val="01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7"/>
    <p:restoredTop sz="93632"/>
  </p:normalViewPr>
  <p:slideViewPr>
    <p:cSldViewPr snapToGrid="0" snapToObjects="1">
      <p:cViewPr varScale="1">
        <p:scale>
          <a:sx n="66" d="100"/>
          <a:sy n="66" d="100"/>
        </p:scale>
        <p:origin x="7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758E4-1A35-464A-8B22-266F232A3299}" type="datetimeFigureOut">
              <a:rPr lang="it-IT" smtClean="0"/>
              <a:t>22/05/15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D3517-B8E9-5B44-B58A-6BC5EC008C75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089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Emanuele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5863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Emanuele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3880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Emanuele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5060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Andrea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3321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Andrea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8677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Andrea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4215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Andrea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7828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Andrea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6918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Andrea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4461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Andrea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9472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Andrea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2434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Andrea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84887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Andrea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20761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Andrea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73151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Andrea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57108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Andrea</a:t>
            </a:r>
            <a:br>
              <a:rPr lang="it-IT" dirty="0" smtClean="0"/>
            </a:b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err="1" smtClean="0"/>
              <a:t>Obviously</a:t>
            </a:r>
            <a:r>
              <a:rPr lang="it-IT" dirty="0" smtClean="0"/>
              <a:t> </a:t>
            </a:r>
            <a:r>
              <a:rPr lang="it-IT" dirty="0" err="1" smtClean="0"/>
              <a:t>Optimal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err="1" smtClean="0"/>
              <a:t>Overlapping</a:t>
            </a:r>
            <a:r>
              <a:rPr lang="it-IT" baseline="0" dirty="0" smtClean="0"/>
              <a:t> </a:t>
            </a:r>
            <a:r>
              <a:rPr lang="it-IT" baseline="0" dirty="0" err="1" smtClean="0"/>
              <a:t>is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required</a:t>
            </a:r>
            <a:r>
              <a:rPr lang="it-IT" baseline="0" dirty="0" smtClean="0"/>
              <a:t/>
            </a:r>
            <a:br>
              <a:rPr lang="it-IT" baseline="0" dirty="0" smtClean="0"/>
            </a:br>
            <a:r>
              <a:rPr lang="it-IT" baseline="0" dirty="0" err="1" smtClean="0"/>
              <a:t>All</a:t>
            </a:r>
            <a:r>
              <a:rPr lang="it-IT" baseline="0" dirty="0" smtClean="0"/>
              <a:t> </a:t>
            </a:r>
            <a:r>
              <a:rPr lang="it-IT" baseline="0" dirty="0" err="1" smtClean="0"/>
              <a:t>couples</a:t>
            </a:r>
            <a:r>
              <a:rPr lang="it-IT" baseline="0" dirty="0" smtClean="0"/>
              <a:t> share a </a:t>
            </a:r>
            <a:r>
              <a:rPr lang="it-IT" baseline="0" dirty="0" err="1" smtClean="0"/>
              <a:t>praference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constraint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6228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Emanuele</a:t>
            </a:r>
            <a:br>
              <a:rPr lang="it-IT" dirty="0" smtClean="0"/>
            </a:b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>NOTES: </a:t>
            </a:r>
            <a:r>
              <a:rPr lang="it-IT" dirty="0" err="1" smtClean="0"/>
              <a:t>We</a:t>
            </a:r>
            <a:r>
              <a:rPr lang="it-IT" dirty="0" smtClean="0"/>
              <a:t> </a:t>
            </a:r>
            <a:r>
              <a:rPr lang="it-IT" dirty="0" err="1" smtClean="0"/>
              <a:t>implement</a:t>
            </a:r>
            <a:r>
              <a:rPr lang="it-IT" dirty="0" smtClean="0"/>
              <a:t> the DFS </a:t>
            </a:r>
            <a:r>
              <a:rPr lang="it-IT" dirty="0" err="1" smtClean="0"/>
              <a:t>tree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as</a:t>
            </a:r>
            <a:r>
              <a:rPr lang="it-IT" baseline="0" dirty="0" smtClean="0"/>
              <a:t> a </a:t>
            </a:r>
            <a:r>
              <a:rPr lang="it-IT" baseline="0" dirty="0" err="1" smtClean="0"/>
              <a:t>sequence</a:t>
            </a:r>
            <a:r>
              <a:rPr lang="it-IT" baseline="0" dirty="0" smtClean="0"/>
              <a:t>, </a:t>
            </a:r>
            <a:r>
              <a:rPr lang="it-IT" baseline="0" dirty="0" err="1" smtClean="0"/>
              <a:t>since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it</a:t>
            </a:r>
            <a:r>
              <a:rPr lang="it-IT" baseline="0" dirty="0" smtClean="0"/>
              <a:t> </a:t>
            </a:r>
            <a:r>
              <a:rPr lang="it-IT" baseline="0" dirty="0" err="1" smtClean="0"/>
              <a:t>is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not</a:t>
            </a:r>
            <a:r>
              <a:rPr lang="it-IT" baseline="0" dirty="0" smtClean="0"/>
              <a:t> the </a:t>
            </a:r>
            <a:r>
              <a:rPr lang="it-IT" baseline="0" dirty="0" err="1" smtClean="0"/>
              <a:t>main</a:t>
            </a:r>
            <a:r>
              <a:rPr lang="it-IT" baseline="0" dirty="0" smtClean="0"/>
              <a:t> </a:t>
            </a:r>
            <a:r>
              <a:rPr lang="it-IT" baseline="0" dirty="0" err="1" smtClean="0"/>
              <a:t>point</a:t>
            </a:r>
            <a:r>
              <a:rPr lang="it-IT" baseline="0" dirty="0" smtClean="0"/>
              <a:t> of </a:t>
            </a:r>
            <a:r>
              <a:rPr lang="it-IT" baseline="0" dirty="0" err="1" smtClean="0"/>
              <a:t>this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project</a:t>
            </a:r>
            <a:r>
              <a:rPr lang="it-IT" baseline="0" dirty="0" smtClean="0"/>
              <a:t>. </a:t>
            </a:r>
            <a:r>
              <a:rPr lang="it-IT" baseline="0" dirty="0" err="1" smtClean="0"/>
              <a:t>Smarter</a:t>
            </a:r>
            <a:r>
              <a:rPr lang="it-IT" baseline="0" dirty="0" smtClean="0"/>
              <a:t> DFS </a:t>
            </a:r>
            <a:r>
              <a:rPr lang="it-IT" baseline="0" dirty="0" err="1" smtClean="0"/>
              <a:t>tree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distributed</a:t>
            </a:r>
            <a:r>
              <a:rPr lang="it-IT" baseline="0" dirty="0" smtClean="0"/>
              <a:t> </a:t>
            </a:r>
            <a:r>
              <a:rPr lang="it-IT" baseline="0" dirty="0" err="1" smtClean="0"/>
              <a:t>algorithms</a:t>
            </a:r>
            <a:r>
              <a:rPr lang="it-IT" baseline="0" dirty="0" smtClean="0"/>
              <a:t> </a:t>
            </a:r>
            <a:r>
              <a:rPr lang="it-IT" baseline="0" dirty="0" err="1" smtClean="0"/>
              <a:t>exsist</a:t>
            </a:r>
            <a:r>
              <a:rPr lang="it-IT" baseline="0" smtClean="0"/>
              <a:t>.</a:t>
            </a:r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DD3517-B8E9-5B44-B58A-6BC5EC008C75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9789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stile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39D1-23DE-5447-BA37-9C3C0B12CF7A}" type="datetimeFigureOut">
              <a:rPr lang="it-IT" smtClean="0"/>
              <a:t>22/05/15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63CAF-FBF7-5B42-A1EA-CD390ECE7B9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0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39D1-23DE-5447-BA37-9C3C0B12CF7A}" type="datetimeFigureOut">
              <a:rPr lang="it-IT" smtClean="0"/>
              <a:t>22/05/15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63CAF-FBF7-5B42-A1EA-CD390ECE7B9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159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39D1-23DE-5447-BA37-9C3C0B12CF7A}" type="datetimeFigureOut">
              <a:rPr lang="it-IT" smtClean="0"/>
              <a:t>22/05/15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63CAF-FBF7-5B42-A1EA-CD390ECE7B9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70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39D1-23DE-5447-BA37-9C3C0B12CF7A}" type="datetimeFigureOut">
              <a:rPr lang="it-IT" smtClean="0"/>
              <a:t>22/05/15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63CAF-FBF7-5B42-A1EA-CD390ECE7B9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6956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it-IT" smtClean="0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39D1-23DE-5447-BA37-9C3C0B12CF7A}" type="datetimeFigureOut">
              <a:rPr lang="it-IT" smtClean="0"/>
              <a:t>22/05/15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63CAF-FBF7-5B42-A1EA-CD390ECE7B9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465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39D1-23DE-5447-BA37-9C3C0B12CF7A}" type="datetimeFigureOut">
              <a:rPr lang="it-IT" smtClean="0"/>
              <a:t>22/05/15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63CAF-FBF7-5B42-A1EA-CD390ECE7B9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1021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39D1-23DE-5447-BA37-9C3C0B12CF7A}" type="datetimeFigureOut">
              <a:rPr lang="it-IT" smtClean="0"/>
              <a:t>22/05/15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63CAF-FBF7-5B42-A1EA-CD390ECE7B9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722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39D1-23DE-5447-BA37-9C3C0B12CF7A}" type="datetimeFigureOut">
              <a:rPr lang="it-IT" smtClean="0"/>
              <a:t>22/05/15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63CAF-FBF7-5B42-A1EA-CD390ECE7B9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66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stile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Trascinare l'immagine su un segnaposto o fare clic sull'icona per aggiungerla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39D1-23DE-5447-BA37-9C3C0B12CF7A}" type="datetimeFigureOut">
              <a:rPr lang="it-IT" smtClean="0"/>
              <a:t>22/05/15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63CAF-FBF7-5B42-A1EA-CD390ECE7B9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5174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39D1-23DE-5447-BA37-9C3C0B12CF7A}" type="datetimeFigureOut">
              <a:rPr lang="it-IT" smtClean="0"/>
              <a:t>22/05/15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63CAF-FBF7-5B42-A1EA-CD390ECE7B9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870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it-IT" smtClean="0"/>
              <a:t>Fare clic per modificare stile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C39D1-23DE-5447-BA37-9C3C0B12CF7A}" type="datetimeFigureOut">
              <a:rPr lang="it-IT" smtClean="0"/>
              <a:t>22/05/15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63CAF-FBF7-5B42-A1EA-CD390ECE7B9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151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C39D1-23DE-5447-BA37-9C3C0B12CF7A}" type="datetimeFigureOut">
              <a:rPr lang="it-IT" smtClean="0"/>
              <a:t>22/05/15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63CAF-FBF7-5B42-A1EA-CD390ECE7B9A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345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smtClean="0"/>
              <a:t>Distributed Meeting </a:t>
            </a:r>
            <a:r>
              <a:rPr lang="it-IT" dirty="0" err="1" smtClean="0"/>
              <a:t>Scheduling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 smtClean="0"/>
              <a:t>Andrea Damiani</a:t>
            </a:r>
            <a:br>
              <a:rPr lang="it-IT" dirty="0" smtClean="0"/>
            </a:br>
            <a:r>
              <a:rPr lang="it-IT" dirty="0" smtClean="0"/>
              <a:t>Emanuele Mason</a:t>
            </a:r>
          </a:p>
        </p:txBody>
      </p:sp>
    </p:spTree>
    <p:extLst>
      <p:ext uri="{BB962C8B-B14F-4D97-AF65-F5344CB8AC3E}">
        <p14:creationId xmlns:p14="http://schemas.microsoft.com/office/powerpoint/2010/main" val="1681692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3" r="16026"/>
          <a:stretch/>
        </p:blipFill>
        <p:spPr>
          <a:xfrm>
            <a:off x="6924912" y="2899711"/>
            <a:ext cx="1590438" cy="236014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(</a:t>
            </a:r>
            <a:r>
              <a:rPr lang="it-IT" dirty="0" err="1" smtClean="0"/>
              <a:t>virtual</a:t>
            </a:r>
            <a:r>
              <a:rPr lang="it-IT" dirty="0" smtClean="0"/>
              <a:t>) </a:t>
            </a:r>
            <a:r>
              <a:rPr lang="it-IT" dirty="0" err="1" smtClean="0"/>
              <a:t>Experimental</a:t>
            </a:r>
            <a:r>
              <a:rPr lang="it-IT" dirty="0" smtClean="0"/>
              <a:t> </a:t>
            </a:r>
            <a:r>
              <a:rPr lang="it-IT" dirty="0" err="1" smtClean="0"/>
              <a:t>Setting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28649" y="1838151"/>
            <a:ext cx="6010145" cy="4884094"/>
          </a:xfrm>
        </p:spPr>
        <p:txBody>
          <a:bodyPr>
            <a:noAutofit/>
          </a:bodyPr>
          <a:lstStyle/>
          <a:p>
            <a:r>
              <a:rPr lang="it-IT" dirty="0" smtClean="0"/>
              <a:t>A corporation and a single </a:t>
            </a:r>
            <a:r>
              <a:rPr lang="it-IT" dirty="0" err="1" smtClean="0"/>
              <a:t>working</a:t>
            </a:r>
            <a:r>
              <a:rPr lang="it-IT" dirty="0" smtClean="0"/>
              <a:t> </a:t>
            </a:r>
            <a:r>
              <a:rPr lang="it-IT" dirty="0" err="1" smtClean="0"/>
              <a:t>day</a:t>
            </a:r>
            <a:r>
              <a:rPr lang="it-IT" dirty="0" smtClean="0"/>
              <a:t> (08:00-18:00)</a:t>
            </a:r>
          </a:p>
          <a:p>
            <a:r>
              <a:rPr lang="it-IT" dirty="0" err="1" smtClean="0"/>
              <a:t>Two</a:t>
            </a:r>
            <a:r>
              <a:rPr lang="it-IT" dirty="0" smtClean="0"/>
              <a:t> </a:t>
            </a:r>
            <a:r>
              <a:rPr lang="it-IT" dirty="0" err="1" smtClean="0"/>
              <a:t>roles</a:t>
            </a:r>
            <a:r>
              <a:rPr lang="it-IT" dirty="0" smtClean="0"/>
              <a:t> for </a:t>
            </a:r>
            <a:r>
              <a:rPr lang="it-IT" dirty="0" err="1" smtClean="0"/>
              <a:t>employees</a:t>
            </a:r>
            <a:endParaRPr lang="it-IT" dirty="0" smtClean="0"/>
          </a:p>
          <a:p>
            <a:pPr lvl="1"/>
            <a:r>
              <a:rPr lang="it-IT" b="1" dirty="0" smtClean="0"/>
              <a:t>Manager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Can setup a meeting for the team he </a:t>
            </a:r>
            <a:r>
              <a:rPr lang="it-IT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manages</a:t>
            </a:r>
            <a:r>
              <a:rPr lang="it-IT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it-IT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it-IT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May</a:t>
            </a:r>
            <a:r>
              <a:rPr lang="it-IT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want</a:t>
            </a:r>
            <a:r>
              <a:rPr lang="it-IT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it-IT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participate</a:t>
            </a:r>
            <a:r>
              <a:rPr lang="it-IT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it-IT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other</a:t>
            </a:r>
            <a:r>
              <a:rPr lang="it-IT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team </a:t>
            </a:r>
            <a:r>
              <a:rPr lang="it-IT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meetings</a:t>
            </a:r>
            <a:endParaRPr lang="it-IT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it-IT" b="1" dirty="0" err="1" smtClean="0"/>
              <a:t>Clerk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Can </a:t>
            </a:r>
            <a:r>
              <a:rPr lang="it-IT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only</a:t>
            </a:r>
            <a:r>
              <a:rPr lang="it-IT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join multiple team </a:t>
            </a:r>
            <a:r>
              <a:rPr lang="it-IT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meetings</a:t>
            </a:r>
            <a:r>
              <a:rPr lang="it-IT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it-IT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it-IT" dirty="0" err="1" smtClean="0"/>
              <a:t>It</a:t>
            </a:r>
            <a:r>
              <a:rPr lang="it-IT" dirty="0" smtClean="0"/>
              <a:t>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less</a:t>
            </a:r>
            <a:r>
              <a:rPr lang="it-IT" dirty="0" smtClean="0"/>
              <a:t> </a:t>
            </a:r>
            <a:r>
              <a:rPr lang="it-IT" dirty="0" err="1" smtClean="0"/>
              <a:t>important</a:t>
            </a:r>
            <a:r>
              <a:rPr lang="it-IT" dirty="0" smtClean="0"/>
              <a:t> </a:t>
            </a:r>
            <a:r>
              <a:rPr lang="it-IT" dirty="0" err="1" smtClean="0"/>
              <a:t>if</a:t>
            </a:r>
            <a:r>
              <a:rPr lang="it-IT" dirty="0" smtClean="0"/>
              <a:t> </a:t>
            </a:r>
            <a:r>
              <a:rPr lang="it-IT" dirty="0"/>
              <a:t>a </a:t>
            </a:r>
            <a:r>
              <a:rPr lang="it-IT" dirty="0" err="1" smtClean="0"/>
              <a:t>clerk</a:t>
            </a:r>
            <a:r>
              <a:rPr lang="it-IT" dirty="0" smtClean="0"/>
              <a:t> </a:t>
            </a:r>
            <a:r>
              <a:rPr lang="it-IT" dirty="0" err="1" smtClean="0"/>
              <a:t>misses</a:t>
            </a:r>
            <a:r>
              <a:rPr lang="it-IT" dirty="0" smtClean="0"/>
              <a:t> a meeting </a:t>
            </a:r>
            <a:r>
              <a:rPr lang="it-IT" dirty="0" err="1" smtClean="0"/>
              <a:t>than</a:t>
            </a:r>
            <a:r>
              <a:rPr lang="it-IT" dirty="0" smtClean="0"/>
              <a:t> </a:t>
            </a:r>
            <a:r>
              <a:rPr lang="it-IT" dirty="0" err="1" smtClean="0"/>
              <a:t>if</a:t>
            </a:r>
            <a:r>
              <a:rPr lang="it-IT" dirty="0" smtClean="0"/>
              <a:t> a manager </a:t>
            </a:r>
            <a:r>
              <a:rPr lang="it-IT" dirty="0" err="1" smtClean="0"/>
              <a:t>does</a:t>
            </a:r>
            <a:r>
              <a:rPr lang="it-IT" dirty="0" smtClean="0"/>
              <a:t>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3614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 smtClean="0"/>
              <a:t>Problem</a:t>
            </a:r>
            <a:r>
              <a:rPr lang="it-IT" dirty="0" smtClean="0"/>
              <a:t> Statement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28650" y="1825625"/>
            <a:ext cx="5634364" cy="4351338"/>
          </a:xfrm>
        </p:spPr>
        <p:txBody>
          <a:bodyPr/>
          <a:lstStyle/>
          <a:p>
            <a:pPr marL="0" indent="0">
              <a:buNone/>
            </a:pPr>
            <a:r>
              <a:rPr lang="it-IT" dirty="0" err="1" smtClean="0"/>
              <a:t>Setting</a:t>
            </a:r>
            <a:r>
              <a:rPr lang="it-IT" dirty="0" smtClean="0"/>
              <a:t> up a corporate meeting </a:t>
            </a:r>
            <a:r>
              <a:rPr lang="it-IT" dirty="0" err="1" smtClean="0"/>
              <a:t>day</a:t>
            </a:r>
            <a:r>
              <a:rPr lang="it-IT" dirty="0" smtClean="0"/>
              <a:t>-schedule</a:t>
            </a:r>
          </a:p>
          <a:p>
            <a:pPr lvl="1"/>
            <a:r>
              <a:rPr lang="it-IT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Allowing</a:t>
            </a:r>
            <a:r>
              <a:rPr lang="it-IT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intersections</a:t>
            </a:r>
            <a:endParaRPr lang="it-IT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it-IT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Trying</a:t>
            </a:r>
            <a:r>
              <a:rPr lang="it-IT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it-IT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minimize</a:t>
            </a:r>
            <a:r>
              <a:rPr lang="it-IT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overlapping</a:t>
            </a:r>
            <a:r>
              <a:rPr lang="it-IT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meetings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that</a:t>
            </a:r>
            <a:r>
              <a:rPr lang="it-IT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are in the </a:t>
            </a:r>
            <a:r>
              <a:rPr lang="it-IT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interests</a:t>
            </a:r>
            <a:r>
              <a:rPr lang="it-IT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of a single </a:t>
            </a:r>
            <a:r>
              <a:rPr lang="it-IT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person</a:t>
            </a:r>
            <a:endParaRPr lang="it-IT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it-IT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Avoid</a:t>
            </a:r>
            <a:r>
              <a:rPr lang="it-IT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disclosing</a:t>
            </a:r>
            <a:r>
              <a:rPr lang="it-IT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everyone’s</a:t>
            </a:r>
            <a:r>
              <a:rPr lang="it-IT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preferences</a:t>
            </a:r>
            <a:r>
              <a:rPr lang="it-IT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(PRIVACY) </a:t>
            </a:r>
            <a:r>
              <a:rPr lang="it-IT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/>
              </a:rPr>
              <a:t></a:t>
            </a:r>
            <a:r>
              <a:rPr lang="it-IT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avoid</a:t>
            </a:r>
            <a:r>
              <a:rPr lang="it-IT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centralization</a:t>
            </a:r>
            <a:endParaRPr lang="it-IT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648" y="2818355"/>
            <a:ext cx="996927" cy="996927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4" t="18013" r="12079" b="29721"/>
          <a:stretch/>
        </p:blipFill>
        <p:spPr>
          <a:xfrm>
            <a:off x="7002551" y="4338513"/>
            <a:ext cx="1098656" cy="87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3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Solution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6503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dirty="0" smtClean="0"/>
              <a:t>ADOPT</a:t>
            </a:r>
          </a:p>
          <a:p>
            <a:pPr marL="0" indent="0">
              <a:buNone/>
            </a:pPr>
            <a:r>
              <a:rPr lang="it-IT" sz="2200" dirty="0" err="1" smtClean="0"/>
              <a:t>Asynchronous</a:t>
            </a:r>
            <a:r>
              <a:rPr lang="it-IT" sz="2200" dirty="0" smtClean="0"/>
              <a:t> Distributed </a:t>
            </a:r>
            <a:r>
              <a:rPr lang="it-IT" sz="2200" dirty="0" err="1" smtClean="0"/>
              <a:t>OPTimization</a:t>
            </a:r>
            <a:endParaRPr lang="it-IT" sz="2200" dirty="0" smtClean="0"/>
          </a:p>
          <a:p>
            <a:pPr marL="0" indent="0">
              <a:buNone/>
            </a:pPr>
            <a:endParaRPr lang="it-IT" sz="2200" dirty="0" smtClean="0"/>
          </a:p>
          <a:p>
            <a:pPr marL="0" indent="0">
              <a:buNone/>
            </a:pPr>
            <a:r>
              <a:rPr lang="it-IT" dirty="0" err="1" smtClean="0"/>
              <a:t>Constraint</a:t>
            </a:r>
            <a:endParaRPr lang="it-IT" dirty="0"/>
          </a:p>
          <a:p>
            <a:pPr marL="0" indent="0">
              <a:buNone/>
            </a:pPr>
            <a:r>
              <a:rPr lang="it-IT" sz="2200" dirty="0" smtClean="0"/>
              <a:t>For </a:t>
            </a:r>
            <a:r>
              <a:rPr lang="it-IT" sz="2200" dirty="0" err="1" smtClean="0"/>
              <a:t>Managers</a:t>
            </a:r>
            <a:endParaRPr lang="it-IT" sz="2200" dirty="0" smtClean="0"/>
          </a:p>
          <a:p>
            <a:pPr marL="457200" lvl="1" indent="0">
              <a:buNone/>
            </a:pPr>
            <a:r>
              <a:rPr lang="it-IT" sz="2200" dirty="0" smtClean="0"/>
              <a:t>Meeting I </a:t>
            </a:r>
            <a:r>
              <a:rPr lang="it-IT" sz="2200" dirty="0" err="1" smtClean="0"/>
              <a:t>am</a:t>
            </a:r>
            <a:r>
              <a:rPr lang="it-IT" sz="2200" dirty="0" smtClean="0"/>
              <a:t> </a:t>
            </a:r>
            <a:r>
              <a:rPr lang="it-IT" sz="2200" dirty="0" err="1" smtClean="0"/>
              <a:t>interested</a:t>
            </a:r>
            <a:r>
              <a:rPr lang="it-IT" sz="2200" dirty="0" smtClean="0"/>
              <a:t> in</a:t>
            </a:r>
            <a:br>
              <a:rPr lang="it-IT" sz="2200" dirty="0" smtClean="0"/>
            </a:br>
            <a:r>
              <a:rPr lang="it-IT" b="1" dirty="0" smtClean="0"/>
              <a:t>	OVERLAPS 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sz="2200" dirty="0" smtClean="0"/>
              <a:t>Meeting I </a:t>
            </a:r>
            <a:r>
              <a:rPr lang="it-IT" sz="2200" dirty="0" err="1" smtClean="0"/>
              <a:t>Manage</a:t>
            </a:r>
            <a:r>
              <a:rPr lang="it-IT" sz="2200" dirty="0" smtClean="0"/>
              <a:t> 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>	</a:t>
            </a:r>
          </a:p>
          <a:p>
            <a:pPr marL="0" indent="0">
              <a:buNone/>
            </a:pPr>
            <a:r>
              <a:rPr lang="it-IT" sz="2200" dirty="0" smtClean="0"/>
              <a:t>For </a:t>
            </a:r>
            <a:r>
              <a:rPr lang="it-IT" sz="2200" dirty="0" err="1" smtClean="0"/>
              <a:t>All</a:t>
            </a:r>
            <a:endParaRPr lang="it-IT" sz="2200" dirty="0" smtClean="0"/>
          </a:p>
          <a:p>
            <a:pPr marL="457200" lvl="1" indent="0">
              <a:buNone/>
            </a:pPr>
            <a:r>
              <a:rPr lang="it-IT" sz="2200" dirty="0" smtClean="0"/>
              <a:t>Meeting I </a:t>
            </a:r>
            <a:r>
              <a:rPr lang="it-IT" sz="2200" dirty="0" err="1" smtClean="0"/>
              <a:t>am</a:t>
            </a:r>
            <a:r>
              <a:rPr lang="it-IT" sz="2200" dirty="0" smtClean="0"/>
              <a:t> </a:t>
            </a:r>
            <a:r>
              <a:rPr lang="it-IT" sz="2200" dirty="0" err="1" smtClean="0"/>
              <a:t>interested</a:t>
            </a:r>
            <a:r>
              <a:rPr lang="it-IT" sz="2200" dirty="0" smtClean="0"/>
              <a:t> in </a:t>
            </a:r>
            <a:br>
              <a:rPr lang="it-IT" sz="2200" dirty="0" smtClean="0"/>
            </a:br>
            <a:r>
              <a:rPr lang="it-IT" dirty="0" smtClean="0"/>
              <a:t>	</a:t>
            </a:r>
            <a:r>
              <a:rPr lang="it-IT" b="1" dirty="0" smtClean="0"/>
              <a:t>OVERLAPS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sz="2200" dirty="0" err="1" smtClean="0"/>
              <a:t>another</a:t>
            </a:r>
            <a:r>
              <a:rPr lang="it-IT" sz="2200" dirty="0" smtClean="0"/>
              <a:t> </a:t>
            </a:r>
            <a:r>
              <a:rPr lang="it-IT" sz="2200" dirty="0"/>
              <a:t>Meeting I </a:t>
            </a:r>
            <a:r>
              <a:rPr lang="it-IT" sz="2200" dirty="0" err="1"/>
              <a:t>am</a:t>
            </a:r>
            <a:r>
              <a:rPr lang="it-IT" sz="2200" dirty="0"/>
              <a:t> </a:t>
            </a:r>
            <a:r>
              <a:rPr lang="it-IT" sz="2200" dirty="0" err="1"/>
              <a:t>interested</a:t>
            </a:r>
            <a:r>
              <a:rPr lang="it-IT" sz="2200" dirty="0"/>
              <a:t> </a:t>
            </a:r>
            <a:r>
              <a:rPr lang="it-IT" sz="2200" dirty="0" smtClean="0"/>
              <a:t>in</a:t>
            </a:r>
            <a:br>
              <a:rPr lang="it-IT" sz="2200" dirty="0" smtClean="0"/>
            </a:br>
            <a:r>
              <a:rPr lang="it-IT" dirty="0" smtClean="0"/>
              <a:t>	</a:t>
            </a:r>
            <a:endParaRPr lang="it-IT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8"/>
          <a:stretch/>
        </p:blipFill>
        <p:spPr>
          <a:xfrm>
            <a:off x="6989523" y="4015854"/>
            <a:ext cx="1698968" cy="1668979"/>
          </a:xfrm>
          <a:prstGeom prst="rect">
            <a:avLst/>
          </a:prstGeom>
        </p:spPr>
      </p:pic>
      <p:sp>
        <p:nvSpPr>
          <p:cNvPr id="6" name="Pentagono 5"/>
          <p:cNvSpPr/>
          <p:nvPr/>
        </p:nvSpPr>
        <p:spPr>
          <a:xfrm>
            <a:off x="1064711" y="3635399"/>
            <a:ext cx="4171167" cy="864296"/>
          </a:xfrm>
          <a:prstGeom prst="homePlat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entagono 6"/>
          <p:cNvSpPr/>
          <p:nvPr/>
        </p:nvSpPr>
        <p:spPr>
          <a:xfrm>
            <a:off x="1064710" y="5103032"/>
            <a:ext cx="4171167" cy="864296"/>
          </a:xfrm>
          <a:prstGeom prst="homePlat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/>
          <p:cNvSpPr txBox="1"/>
          <p:nvPr/>
        </p:nvSpPr>
        <p:spPr>
          <a:xfrm>
            <a:off x="5166983" y="3700880"/>
            <a:ext cx="9269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smtClean="0"/>
              <a:t>3</a:t>
            </a:r>
          </a:p>
          <a:p>
            <a:pPr algn="ctr"/>
            <a:r>
              <a:rPr lang="it-IT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Cost</a:t>
            </a:r>
            <a:endParaRPr lang="it-IT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5103176" y="5175913"/>
            <a:ext cx="9269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smtClean="0"/>
              <a:t>1</a:t>
            </a:r>
          </a:p>
          <a:p>
            <a:pPr algn="ctr"/>
            <a:r>
              <a:rPr lang="it-IT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Cost</a:t>
            </a:r>
            <a:endParaRPr lang="it-IT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65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 smtClean="0"/>
              <a:t>Implementation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err="1" smtClean="0"/>
              <a:t>Step-based</a:t>
            </a:r>
            <a:r>
              <a:rPr lang="it-IT" dirty="0" smtClean="0"/>
              <a:t> JADE Agent </a:t>
            </a:r>
            <a:r>
              <a:rPr lang="it-IT" dirty="0" err="1" smtClean="0"/>
              <a:t>Behaviour</a:t>
            </a:r>
            <a:endParaRPr lang="it-IT" dirty="0" smtClean="0"/>
          </a:p>
          <a:p>
            <a:pPr lvl="1"/>
            <a:r>
              <a:rPr lang="it-IT" dirty="0" err="1" smtClean="0"/>
              <a:t>Initialize</a:t>
            </a:r>
            <a:endParaRPr lang="it-IT" dirty="0" smtClean="0"/>
          </a:p>
          <a:p>
            <a:pPr lvl="1"/>
            <a:r>
              <a:rPr lang="it-IT" dirty="0" err="1" smtClean="0"/>
              <a:t>Lookup</a:t>
            </a:r>
            <a:r>
              <a:rPr lang="it-IT" dirty="0" smtClean="0"/>
              <a:t> for </a:t>
            </a:r>
            <a:r>
              <a:rPr lang="it-IT" dirty="0" err="1" smtClean="0"/>
              <a:t>available</a:t>
            </a:r>
            <a:r>
              <a:rPr lang="it-IT" dirty="0" smtClean="0"/>
              <a:t> </a:t>
            </a:r>
            <a:r>
              <a:rPr lang="it-IT" dirty="0" err="1" smtClean="0"/>
              <a:t>meetings</a:t>
            </a:r>
            <a:endParaRPr lang="it-IT" dirty="0" smtClean="0"/>
          </a:p>
          <a:p>
            <a:pPr lvl="2"/>
            <a:r>
              <a:rPr lang="it-IT" dirty="0" smtClean="0"/>
              <a:t>JADE Directory </a:t>
            </a:r>
            <a:r>
              <a:rPr lang="it-IT" dirty="0" err="1" smtClean="0"/>
              <a:t>Based</a:t>
            </a:r>
            <a:endParaRPr lang="it-IT" dirty="0" smtClean="0"/>
          </a:p>
          <a:p>
            <a:pPr lvl="1"/>
            <a:r>
              <a:rPr lang="it-IT" dirty="0" err="1" smtClean="0"/>
              <a:t>Build</a:t>
            </a:r>
            <a:r>
              <a:rPr lang="it-IT" dirty="0" smtClean="0"/>
              <a:t> </a:t>
            </a:r>
            <a:r>
              <a:rPr lang="it-IT" dirty="0" err="1" smtClean="0"/>
              <a:t>Constraint</a:t>
            </a:r>
            <a:r>
              <a:rPr lang="it-IT" dirty="0" smtClean="0"/>
              <a:t> Network</a:t>
            </a:r>
          </a:p>
          <a:p>
            <a:pPr lvl="2"/>
            <a:r>
              <a:rPr lang="it-IT" dirty="0" err="1" smtClean="0"/>
              <a:t>Multicasting</a:t>
            </a:r>
            <a:endParaRPr lang="it-IT" dirty="0" smtClean="0"/>
          </a:p>
          <a:p>
            <a:pPr lvl="1"/>
            <a:r>
              <a:rPr lang="it-IT" dirty="0" err="1" smtClean="0"/>
              <a:t>Build</a:t>
            </a:r>
            <a:r>
              <a:rPr lang="it-IT" dirty="0" smtClean="0"/>
              <a:t> DFS </a:t>
            </a:r>
            <a:r>
              <a:rPr lang="it-IT" dirty="0" err="1" smtClean="0"/>
              <a:t>tree</a:t>
            </a:r>
            <a:endParaRPr lang="it-IT" dirty="0" smtClean="0"/>
          </a:p>
          <a:p>
            <a:pPr lvl="2"/>
            <a:r>
              <a:rPr lang="it-IT" dirty="0" err="1" smtClean="0"/>
              <a:t>Fully</a:t>
            </a:r>
            <a:r>
              <a:rPr lang="it-IT" dirty="0" smtClean="0"/>
              <a:t> </a:t>
            </a:r>
            <a:r>
              <a:rPr lang="it-IT" dirty="0" err="1" smtClean="0"/>
              <a:t>distributed</a:t>
            </a:r>
            <a:r>
              <a:rPr lang="it-IT" dirty="0" smtClean="0"/>
              <a:t> </a:t>
            </a:r>
            <a:r>
              <a:rPr lang="it-IT" dirty="0" err="1" smtClean="0"/>
              <a:t>root</a:t>
            </a:r>
            <a:r>
              <a:rPr lang="it-IT" dirty="0" smtClean="0"/>
              <a:t> </a:t>
            </a:r>
            <a:r>
              <a:rPr lang="it-IT" dirty="0" err="1" smtClean="0"/>
              <a:t>election</a:t>
            </a:r>
            <a:endParaRPr lang="it-IT" dirty="0" smtClean="0"/>
          </a:p>
          <a:p>
            <a:pPr lvl="2"/>
            <a:r>
              <a:rPr lang="it-IT" dirty="0" err="1" smtClean="0"/>
              <a:t>Naive</a:t>
            </a:r>
            <a:r>
              <a:rPr lang="it-IT" dirty="0" smtClean="0"/>
              <a:t> </a:t>
            </a:r>
            <a:r>
              <a:rPr lang="it-IT" dirty="0" err="1" smtClean="0"/>
              <a:t>implementation</a:t>
            </a:r>
            <a:r>
              <a:rPr lang="it-IT" dirty="0" smtClean="0"/>
              <a:t> (</a:t>
            </a:r>
            <a:r>
              <a:rPr lang="it-IT" dirty="0" err="1" smtClean="0"/>
              <a:t>not</a:t>
            </a:r>
            <a:r>
              <a:rPr lang="it-IT" dirty="0" smtClean="0"/>
              <a:t> </a:t>
            </a:r>
            <a:r>
              <a:rPr lang="it-IT" dirty="0" err="1" smtClean="0"/>
              <a:t>focal</a:t>
            </a:r>
            <a:r>
              <a:rPr lang="it-IT" dirty="0" smtClean="0"/>
              <a:t> </a:t>
            </a:r>
            <a:r>
              <a:rPr lang="it-IT" dirty="0" err="1" smtClean="0"/>
              <a:t>point</a:t>
            </a:r>
            <a:r>
              <a:rPr lang="it-IT" dirty="0" smtClean="0"/>
              <a:t>)</a:t>
            </a:r>
          </a:p>
          <a:p>
            <a:pPr lvl="1"/>
            <a:r>
              <a:rPr lang="it-IT" dirty="0" smtClean="0"/>
              <a:t>ADOPT</a:t>
            </a:r>
          </a:p>
        </p:txBody>
      </p:sp>
    </p:spTree>
    <p:extLst>
      <p:ext uri="{BB962C8B-B14F-4D97-AF65-F5344CB8AC3E}">
        <p14:creationId xmlns:p14="http://schemas.microsoft.com/office/powerpoint/2010/main" val="1759007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Demo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ADOPT </a:t>
            </a:r>
            <a:r>
              <a:rPr lang="it-IT" dirty="0" err="1"/>
              <a:t>grows</a:t>
            </a:r>
            <a:r>
              <a:rPr lang="it-IT" dirty="0"/>
              <a:t> </a:t>
            </a:r>
            <a:r>
              <a:rPr lang="it-IT" dirty="0" err="1"/>
              <a:t>exponentially</a:t>
            </a:r>
            <a:r>
              <a:rPr lang="it-IT" dirty="0"/>
              <a:t> with </a:t>
            </a:r>
            <a:r>
              <a:rPr lang="it-IT" dirty="0" err="1"/>
              <a:t>complexity</a:t>
            </a:r>
            <a:r>
              <a:rPr lang="it-IT" dirty="0"/>
              <a:t> of </a:t>
            </a:r>
            <a:r>
              <a:rPr lang="it-IT" dirty="0" err="1"/>
              <a:t>Constraint</a:t>
            </a:r>
            <a:r>
              <a:rPr lang="it-IT" dirty="0"/>
              <a:t> Network</a:t>
            </a:r>
          </a:p>
          <a:p>
            <a:pPr lvl="1">
              <a:buFont typeface="Symbol" charset="2"/>
              <a:buChar char="Þ"/>
            </a:pP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Small 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but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interesting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examples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may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require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more 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than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 minutes</a:t>
            </a:r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terminate</a:t>
            </a:r>
          </a:p>
          <a:p>
            <a:pPr lvl="1">
              <a:buFont typeface="Symbol" charset="2"/>
              <a:buChar char="Þ"/>
            </a:pPr>
            <a:r>
              <a:rPr lang="it-IT" i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Live-Demo </a:t>
            </a:r>
            <a:r>
              <a:rPr lang="it-IT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</a:t>
            </a:r>
            <a:r>
              <a:rPr lang="it-IT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naive</a:t>
            </a:r>
            <a:r>
              <a:rPr lang="it-IT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case</a:t>
            </a:r>
            <a:endParaRPr lang="it-IT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Symbol" charset="2"/>
              <a:buChar char="Þ"/>
            </a:pP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Screnshoots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of 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interesting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case</a:t>
            </a:r>
          </a:p>
        </p:txBody>
      </p:sp>
    </p:spTree>
    <p:extLst>
      <p:ext uri="{BB962C8B-B14F-4D97-AF65-F5344CB8AC3E}">
        <p14:creationId xmlns:p14="http://schemas.microsoft.com/office/powerpoint/2010/main" val="36002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SIMULATION</a:t>
            </a:r>
            <a:br>
              <a:rPr lang="it-IT" dirty="0" smtClean="0"/>
            </a:br>
            <a:r>
              <a:rPr lang="it-IT" dirty="0" err="1" smtClean="0"/>
              <a:t>Preferences</a:t>
            </a:r>
            <a:endParaRPr lang="it-IT" dirty="0"/>
          </a:p>
        </p:txBody>
      </p:sp>
      <p:graphicFrame>
        <p:nvGraphicFramePr>
          <p:cNvPr id="4" name="Segnaposto contenut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4155594"/>
              </p:ext>
            </p:extLst>
          </p:nvPr>
        </p:nvGraphicFramePr>
        <p:xfrm>
          <a:off x="628650" y="1825625"/>
          <a:ext cx="7886700" cy="222504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798706"/>
                <a:gridCol w="1650381"/>
                <a:gridCol w="2185639"/>
                <a:gridCol w="3251974"/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Agent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 smtClean="0"/>
                        <a:t>Manages</a:t>
                      </a:r>
                      <a:r>
                        <a:rPr lang="it-IT" baseline="0" dirty="0" smtClean="0"/>
                        <a:t> team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 smtClean="0"/>
                        <a:t>Interested</a:t>
                      </a:r>
                      <a:r>
                        <a:rPr lang="it-IT" dirty="0" smtClean="0"/>
                        <a:t> in teams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Meeting</a:t>
                      </a:r>
                      <a:r>
                        <a:rPr lang="it-IT" baseline="0" dirty="0" smtClean="0"/>
                        <a:t> </a:t>
                      </a:r>
                      <a:r>
                        <a:rPr lang="it-IT" baseline="0" dirty="0" err="1" smtClean="0"/>
                        <a:t>duration</a:t>
                      </a:r>
                      <a:endParaRPr lang="it-I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 smtClean="0"/>
                        <a:t>agA</a:t>
                      </a:r>
                      <a:endParaRPr lang="it-IT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a</a:t>
                      </a:r>
                      <a:endParaRPr lang="it-IT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err="1" smtClean="0"/>
                        <a:t>b,c</a:t>
                      </a:r>
                      <a:endParaRPr lang="it-IT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3 hours</a:t>
                      </a:r>
                      <a:endParaRPr lang="it-IT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 smtClean="0"/>
                        <a:t>agB</a:t>
                      </a:r>
                      <a:endParaRPr lang="it-IT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b</a:t>
                      </a:r>
                      <a:endParaRPr lang="it-IT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err="1" smtClean="0"/>
                        <a:t>c,d</a:t>
                      </a:r>
                      <a:endParaRPr lang="it-IT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NO MEETING</a:t>
                      </a:r>
                      <a:endParaRPr lang="it-IT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 smtClean="0"/>
                        <a:t>agC</a:t>
                      </a:r>
                      <a:endParaRPr lang="it-IT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c</a:t>
                      </a:r>
                      <a:endParaRPr lang="it-IT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err="1" smtClean="0"/>
                        <a:t>a,d</a:t>
                      </a:r>
                      <a:endParaRPr lang="it-IT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4 hours</a:t>
                      </a:r>
                      <a:endParaRPr lang="it-IT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 smtClean="0"/>
                        <a:t>agD</a:t>
                      </a:r>
                      <a:endParaRPr lang="it-IT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d</a:t>
                      </a:r>
                      <a:endParaRPr lang="it-IT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-</a:t>
                      </a:r>
                      <a:endParaRPr lang="it-IT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4 hours</a:t>
                      </a:r>
                      <a:endParaRPr lang="it-IT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ag1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-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 smtClean="0"/>
                        <a:t>b,c,d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NOT</a:t>
                      </a:r>
                      <a:r>
                        <a:rPr lang="it-IT" baseline="0" dirty="0" smtClean="0"/>
                        <a:t> A MANAGER</a:t>
                      </a:r>
                      <a:endParaRPr lang="it-IT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asellaDiTesto 4"/>
          <p:cNvSpPr txBox="1"/>
          <p:nvPr/>
        </p:nvSpPr>
        <p:spPr>
          <a:xfrm>
            <a:off x="3761479" y="4311805"/>
            <a:ext cx="18357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 smtClean="0"/>
              <a:t>Both</a:t>
            </a:r>
            <a:r>
              <a:rPr lang="it-IT" dirty="0" smtClean="0"/>
              <a:t> </a:t>
            </a:r>
            <a:r>
              <a:rPr lang="it-IT" dirty="0" err="1" smtClean="0"/>
              <a:t>managers</a:t>
            </a:r>
            <a:r>
              <a:rPr lang="it-IT" dirty="0" smtClean="0"/>
              <a:t> and </a:t>
            </a:r>
            <a:r>
              <a:rPr lang="it-IT" dirty="0" err="1" smtClean="0"/>
              <a:t>simple</a:t>
            </a:r>
            <a:r>
              <a:rPr lang="it-IT" dirty="0" smtClean="0"/>
              <a:t> </a:t>
            </a:r>
            <a:r>
              <a:rPr lang="it-IT" dirty="0" err="1" smtClean="0"/>
              <a:t>employees</a:t>
            </a:r>
            <a:endParaRPr lang="it-IT" dirty="0" smtClean="0"/>
          </a:p>
          <a:p>
            <a:pPr algn="ctr"/>
            <a:endParaRPr lang="it-IT" dirty="0"/>
          </a:p>
          <a:p>
            <a:pPr algn="ctr"/>
            <a:r>
              <a:rPr lang="it-IT" dirty="0" err="1" smtClean="0"/>
              <a:t>Different</a:t>
            </a:r>
            <a:r>
              <a:rPr lang="it-IT" dirty="0" smtClean="0"/>
              <a:t> </a:t>
            </a:r>
            <a:r>
              <a:rPr lang="it-IT" dirty="0" err="1" smtClean="0"/>
              <a:t>constrains</a:t>
            </a:r>
            <a:endParaRPr lang="it-IT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1925709" y="4311805"/>
            <a:ext cx="18357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Total meeting time = 11 hours</a:t>
            </a:r>
          </a:p>
          <a:p>
            <a:pPr algn="ctr"/>
            <a:endParaRPr lang="it-IT" dirty="0"/>
          </a:p>
          <a:p>
            <a:pPr algn="ctr"/>
            <a:r>
              <a:rPr lang="it-IT" dirty="0"/>
              <a:t>m</a:t>
            </a:r>
            <a:r>
              <a:rPr lang="it-IT" dirty="0" smtClean="0"/>
              <a:t>ore </a:t>
            </a:r>
            <a:r>
              <a:rPr lang="it-IT" dirty="0" err="1" smtClean="0"/>
              <a:t>than</a:t>
            </a:r>
            <a:r>
              <a:rPr lang="it-IT" dirty="0" smtClean="0"/>
              <a:t> </a:t>
            </a:r>
            <a:r>
              <a:rPr lang="it-IT" dirty="0" err="1" smtClean="0"/>
              <a:t>available</a:t>
            </a:r>
            <a:endParaRPr lang="it-IT" dirty="0" smtClean="0"/>
          </a:p>
          <a:p>
            <a:pPr algn="ctr"/>
            <a:endParaRPr lang="it-IT" dirty="0"/>
          </a:p>
          <a:p>
            <a:pPr algn="ctr"/>
            <a:r>
              <a:rPr lang="it-IT" dirty="0" err="1"/>
              <a:t>o</a:t>
            </a:r>
            <a:r>
              <a:rPr lang="it-IT" dirty="0" err="1" smtClean="0"/>
              <a:t>verlapping</a:t>
            </a:r>
            <a:r>
              <a:rPr lang="it-IT" dirty="0" smtClean="0"/>
              <a:t> </a:t>
            </a:r>
            <a:r>
              <a:rPr lang="it-IT" dirty="0" err="1" smtClean="0"/>
              <a:t>required</a:t>
            </a:r>
            <a:endParaRPr lang="it-IT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5597249" y="4311805"/>
            <a:ext cx="18357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 smtClean="0"/>
              <a:t>Intersecating</a:t>
            </a:r>
            <a:r>
              <a:rPr lang="it-IT" dirty="0" smtClean="0"/>
              <a:t> </a:t>
            </a:r>
            <a:r>
              <a:rPr lang="it-IT" dirty="0" err="1" smtClean="0"/>
              <a:t>interests</a:t>
            </a:r>
            <a:endParaRPr lang="it-IT" dirty="0" smtClean="0"/>
          </a:p>
          <a:p>
            <a:pPr algn="ctr"/>
            <a:endParaRPr lang="it-IT" dirty="0"/>
          </a:p>
          <a:p>
            <a:pPr algn="ctr"/>
            <a:r>
              <a:rPr lang="it-IT" dirty="0" err="1" smtClean="0"/>
              <a:t>Intricated</a:t>
            </a:r>
            <a:r>
              <a:rPr lang="it-IT" dirty="0" smtClean="0"/>
              <a:t> </a:t>
            </a:r>
            <a:r>
              <a:rPr lang="it-IT" dirty="0" err="1" smtClean="0"/>
              <a:t>Constraint</a:t>
            </a:r>
            <a:r>
              <a:rPr lang="it-IT" dirty="0" smtClean="0"/>
              <a:t> Network</a:t>
            </a:r>
            <a:endParaRPr lang="it-IT" dirty="0"/>
          </a:p>
        </p:txBody>
      </p:sp>
      <p:cxnSp>
        <p:nvCxnSpPr>
          <p:cNvPr id="9" name="Connettore 1 8"/>
          <p:cNvCxnSpPr/>
          <p:nvPr/>
        </p:nvCxnSpPr>
        <p:spPr>
          <a:xfrm>
            <a:off x="3761479" y="4311805"/>
            <a:ext cx="0" cy="240122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/>
          <p:cNvCxnSpPr/>
          <p:nvPr/>
        </p:nvCxnSpPr>
        <p:spPr>
          <a:xfrm>
            <a:off x="5656722" y="4311805"/>
            <a:ext cx="0" cy="240122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834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5130"/>
            <a:ext cx="6146800" cy="4673600"/>
          </a:xfrm>
          <a:prstGeom prst="rect">
            <a:avLst/>
          </a:prstGeom>
        </p:spPr>
      </p:pic>
      <p:sp>
        <p:nvSpPr>
          <p:cNvPr id="5" name="Parentesi graffa chiusa 4"/>
          <p:cNvSpPr/>
          <p:nvPr/>
        </p:nvSpPr>
        <p:spPr>
          <a:xfrm>
            <a:off x="6146800" y="1779373"/>
            <a:ext cx="340497" cy="119860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entesi graffa chiusa 5"/>
          <p:cNvSpPr/>
          <p:nvPr/>
        </p:nvSpPr>
        <p:spPr>
          <a:xfrm>
            <a:off x="6146799" y="2977978"/>
            <a:ext cx="340497" cy="249606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/>
          <p:cNvSpPr txBox="1"/>
          <p:nvPr/>
        </p:nvSpPr>
        <p:spPr>
          <a:xfrm>
            <a:off x="6487296" y="2194009"/>
            <a:ext cx="1493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mtClean="0"/>
              <a:t>START SIGNAL</a:t>
            </a:r>
            <a:endParaRPr lang="it-IT"/>
          </a:p>
        </p:txBody>
      </p:sp>
      <p:sp>
        <p:nvSpPr>
          <p:cNvPr id="8" name="CasellaDiTesto 7"/>
          <p:cNvSpPr txBox="1"/>
          <p:nvPr/>
        </p:nvSpPr>
        <p:spPr>
          <a:xfrm>
            <a:off x="6487295" y="4041344"/>
            <a:ext cx="2069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/>
              <a:t>DIRECTORY LOOKUP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4059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34"/>
          <a:stretch/>
        </p:blipFill>
        <p:spPr>
          <a:xfrm>
            <a:off x="0" y="1204332"/>
            <a:ext cx="6237611" cy="5656567"/>
          </a:xfrm>
          <a:prstGeom prst="rect">
            <a:avLst/>
          </a:prstGeom>
        </p:spPr>
      </p:pic>
      <p:pic>
        <p:nvPicPr>
          <p:cNvPr id="3" name="Immagin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213"/>
          <a:stretch/>
        </p:blipFill>
        <p:spPr>
          <a:xfrm>
            <a:off x="1" y="0"/>
            <a:ext cx="6235239" cy="1115122"/>
          </a:xfrm>
          <a:prstGeom prst="rect">
            <a:avLst/>
          </a:prstGeom>
        </p:spPr>
      </p:pic>
      <p:cxnSp>
        <p:nvCxnSpPr>
          <p:cNvPr id="5" name="Connettore 1 4"/>
          <p:cNvCxnSpPr/>
          <p:nvPr/>
        </p:nvCxnSpPr>
        <p:spPr>
          <a:xfrm>
            <a:off x="0" y="1159727"/>
            <a:ext cx="623524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entesi graffa chiusa 5"/>
          <p:cNvSpPr/>
          <p:nvPr/>
        </p:nvSpPr>
        <p:spPr>
          <a:xfrm>
            <a:off x="6235240" y="1536550"/>
            <a:ext cx="340497" cy="510555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/>
          <p:cNvSpPr txBox="1"/>
          <p:nvPr/>
        </p:nvSpPr>
        <p:spPr>
          <a:xfrm>
            <a:off x="6575737" y="3766159"/>
            <a:ext cx="2283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mtClean="0"/>
              <a:t>AVAILABLE MEETINGS </a:t>
            </a:r>
            <a:br>
              <a:rPr lang="it-IT" smtClean="0"/>
            </a:br>
            <a:r>
              <a:rPr lang="it-IT" smtClean="0"/>
              <a:t>ADVERTISEMENT</a:t>
            </a:r>
            <a:endParaRPr lang="it-IT" dirty="0"/>
          </a:p>
        </p:txBody>
      </p:sp>
      <p:cxnSp>
        <p:nvCxnSpPr>
          <p:cNvPr id="9" name="Connettore 2 8"/>
          <p:cNvCxnSpPr/>
          <p:nvPr/>
        </p:nvCxnSpPr>
        <p:spPr>
          <a:xfrm flipV="1">
            <a:off x="4102100" y="127000"/>
            <a:ext cx="2730500" cy="17422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6972300" y="0"/>
            <a:ext cx="2138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/>
              <a:t>CONFIRMS MEETING</a:t>
            </a:r>
            <a:br>
              <a:rPr lang="it-IT" dirty="0" smtClean="0"/>
            </a:br>
            <a:r>
              <a:rPr lang="it-IT" dirty="0" smtClean="0"/>
              <a:t>AVAILABILTY</a:t>
            </a:r>
            <a:endParaRPr lang="it-IT" dirty="0"/>
          </a:p>
        </p:txBody>
      </p:sp>
      <p:cxnSp>
        <p:nvCxnSpPr>
          <p:cNvPr id="14" name="Connettore 2 13"/>
          <p:cNvCxnSpPr/>
          <p:nvPr/>
        </p:nvCxnSpPr>
        <p:spPr>
          <a:xfrm flipV="1">
            <a:off x="4550285" y="862541"/>
            <a:ext cx="2341579" cy="1193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/>
          <p:cNvSpPr txBox="1"/>
          <p:nvPr/>
        </p:nvSpPr>
        <p:spPr>
          <a:xfrm>
            <a:off x="7031564" y="735541"/>
            <a:ext cx="2138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CANCELS MEETING</a:t>
            </a:r>
            <a:br>
              <a:rPr lang="it-IT" dirty="0" smtClean="0"/>
            </a:br>
            <a:r>
              <a:rPr lang="it-IT" dirty="0" smtClean="0"/>
              <a:t>AVAILABILTY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2660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602"/>
          <a:stretch/>
        </p:blipFill>
        <p:spPr>
          <a:xfrm>
            <a:off x="0" y="0"/>
            <a:ext cx="6054336" cy="1092820"/>
          </a:xfrm>
          <a:prstGeom prst="rect">
            <a:avLst/>
          </a:prstGeom>
        </p:spPr>
      </p:pic>
      <p:pic>
        <p:nvPicPr>
          <p:cNvPr id="3" name="Immagin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65"/>
          <a:stretch/>
        </p:blipFill>
        <p:spPr>
          <a:xfrm>
            <a:off x="0" y="1248937"/>
            <a:ext cx="6071111" cy="5608710"/>
          </a:xfrm>
          <a:prstGeom prst="rect">
            <a:avLst/>
          </a:prstGeom>
        </p:spPr>
      </p:pic>
      <p:cxnSp>
        <p:nvCxnSpPr>
          <p:cNvPr id="4" name="Connettore 1 3"/>
          <p:cNvCxnSpPr/>
          <p:nvPr/>
        </p:nvCxnSpPr>
        <p:spPr>
          <a:xfrm>
            <a:off x="0" y="1159727"/>
            <a:ext cx="623524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rentesi graffa chiusa 4"/>
          <p:cNvSpPr/>
          <p:nvPr/>
        </p:nvSpPr>
        <p:spPr>
          <a:xfrm>
            <a:off x="6079126" y="1692664"/>
            <a:ext cx="340497" cy="510555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/>
          <p:cNvSpPr txBox="1"/>
          <p:nvPr/>
        </p:nvSpPr>
        <p:spPr>
          <a:xfrm>
            <a:off x="6419623" y="3856799"/>
            <a:ext cx="22831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/>
              <a:t>DISTRIBUTED ROOT</a:t>
            </a:r>
            <a:br>
              <a:rPr lang="it-IT" dirty="0" smtClean="0"/>
            </a:br>
            <a:r>
              <a:rPr lang="it-IT" dirty="0" smtClean="0"/>
              <a:t>ELECTION</a:t>
            </a:r>
            <a:br>
              <a:rPr lang="it-IT" dirty="0" smtClean="0"/>
            </a:br>
            <a:r>
              <a:rPr lang="it-IT" dirty="0" smtClean="0"/>
              <a:t>(With </a:t>
            </a:r>
            <a:r>
              <a:rPr lang="it-IT" smtClean="0"/>
              <a:t>Random </a:t>
            </a:r>
            <a:r>
              <a:rPr lang="it-IT" dirty="0" err="1" smtClean="0"/>
              <a:t>Values</a:t>
            </a:r>
            <a:r>
              <a:rPr lang="it-IT" dirty="0" smtClean="0"/>
              <a:t>)</a:t>
            </a:r>
            <a:endParaRPr lang="it-IT" dirty="0"/>
          </a:p>
        </p:txBody>
      </p:sp>
      <p:cxnSp>
        <p:nvCxnSpPr>
          <p:cNvPr id="9" name="Connettore 2 8"/>
          <p:cNvCxnSpPr/>
          <p:nvPr/>
        </p:nvCxnSpPr>
        <p:spPr>
          <a:xfrm flipV="1">
            <a:off x="5203652" y="1018655"/>
            <a:ext cx="1532098" cy="8200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/>
          <p:cNvSpPr txBox="1"/>
          <p:nvPr/>
        </p:nvSpPr>
        <p:spPr>
          <a:xfrm>
            <a:off x="6735750" y="695489"/>
            <a:ext cx="2138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MULTICAST SEND OF</a:t>
            </a:r>
            <a:br>
              <a:rPr lang="it-IT" dirty="0" smtClean="0"/>
            </a:br>
            <a:r>
              <a:rPr lang="it-IT" dirty="0" smtClean="0"/>
              <a:t>MY RANDOM VALUE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53744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92097" y="3077737"/>
            <a:ext cx="76534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400" dirty="0" smtClean="0"/>
              <a:t>… </a:t>
            </a:r>
            <a:r>
              <a:rPr lang="it-IT" sz="4400" dirty="0" err="1" smtClean="0"/>
              <a:t>Root</a:t>
            </a:r>
            <a:r>
              <a:rPr lang="it-IT" sz="4400" dirty="0" smtClean="0"/>
              <a:t> </a:t>
            </a:r>
            <a:r>
              <a:rPr lang="it-IT" sz="4400" dirty="0" err="1" smtClean="0"/>
              <a:t>Election</a:t>
            </a:r>
            <a:r>
              <a:rPr lang="it-IT" sz="4400" dirty="0" smtClean="0"/>
              <a:t> </a:t>
            </a:r>
            <a:r>
              <a:rPr lang="it-IT" sz="4400" dirty="0" err="1" smtClean="0"/>
              <a:t>gets</a:t>
            </a:r>
            <a:r>
              <a:rPr lang="it-IT" sz="4400" dirty="0" smtClean="0"/>
              <a:t> to an end …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211938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/>
          <p:cNvSpPr txBox="1"/>
          <p:nvPr/>
        </p:nvSpPr>
        <p:spPr>
          <a:xfrm>
            <a:off x="6595110" y="285750"/>
            <a:ext cx="25488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BUILD </a:t>
            </a:r>
            <a:br>
              <a:rPr lang="it-IT" dirty="0" smtClean="0"/>
            </a:br>
            <a:r>
              <a:rPr lang="it-IT" dirty="0" smtClean="0"/>
              <a:t>CONTRAINT NETWORK</a:t>
            </a:r>
          </a:p>
          <a:p>
            <a:endParaRPr lang="it-IT" dirty="0"/>
          </a:p>
          <a:p>
            <a:r>
              <a:rPr lang="it-IT" dirty="0" err="1" smtClean="0"/>
              <a:t>Relevant</a:t>
            </a:r>
            <a:r>
              <a:rPr lang="it-IT" dirty="0" smtClean="0"/>
              <a:t> </a:t>
            </a:r>
            <a:r>
              <a:rPr lang="it-IT" dirty="0" err="1" smtClean="0"/>
              <a:t>Messages</a:t>
            </a:r>
            <a:r>
              <a:rPr lang="it-IT" dirty="0" smtClean="0"/>
              <a:t>:</a:t>
            </a:r>
          </a:p>
          <a:p>
            <a:endParaRPr lang="it-IT" dirty="0"/>
          </a:p>
          <a:p>
            <a:endParaRPr lang="it-IT" dirty="0" smtClean="0"/>
          </a:p>
          <a:p>
            <a:r>
              <a:rPr lang="it-IT" dirty="0" smtClean="0"/>
              <a:t>SEND </a:t>
            </a:r>
            <a:br>
              <a:rPr lang="it-IT" dirty="0" smtClean="0"/>
            </a:br>
            <a:r>
              <a:rPr lang="it-IT" dirty="0" smtClean="0"/>
              <a:t>CONTRAINT COST </a:t>
            </a:r>
            <a:br>
              <a:rPr lang="it-IT" dirty="0" smtClean="0"/>
            </a:br>
            <a:r>
              <a:rPr lang="it-IT" dirty="0" smtClean="0"/>
              <a:t>TO NEIGHBOR</a:t>
            </a:r>
            <a:br>
              <a:rPr lang="it-IT" dirty="0" smtClean="0"/>
            </a:b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>BROADCAST SIGNAL:</a:t>
            </a:r>
            <a:br>
              <a:rPr lang="it-IT" dirty="0" smtClean="0"/>
            </a:br>
            <a:r>
              <a:rPr lang="it-IT" dirty="0" smtClean="0"/>
              <a:t>NO MORE CONTRAINT FROM AGENT</a:t>
            </a:r>
            <a:endParaRPr lang="it-IT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337300" cy="9613900"/>
          </a:xfrm>
          <a:prstGeom prst="rect">
            <a:avLst/>
          </a:prstGeom>
        </p:spPr>
      </p:pic>
      <p:cxnSp>
        <p:nvCxnSpPr>
          <p:cNvPr id="7" name="Connettore 2 6"/>
          <p:cNvCxnSpPr/>
          <p:nvPr/>
        </p:nvCxnSpPr>
        <p:spPr>
          <a:xfrm>
            <a:off x="6783705" y="1885950"/>
            <a:ext cx="1725930" cy="0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/>
          <p:cNvCxnSpPr/>
          <p:nvPr/>
        </p:nvCxnSpPr>
        <p:spPr>
          <a:xfrm>
            <a:off x="6783705" y="3238500"/>
            <a:ext cx="172593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05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756489" y="3077737"/>
            <a:ext cx="79246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4400" dirty="0" smtClean="0"/>
              <a:t>… </a:t>
            </a:r>
            <a:r>
              <a:rPr lang="it-IT" sz="4400" dirty="0" err="1" smtClean="0"/>
              <a:t>Constraint</a:t>
            </a:r>
            <a:r>
              <a:rPr lang="it-IT" sz="4400" dirty="0" smtClean="0"/>
              <a:t> Network </a:t>
            </a:r>
            <a:r>
              <a:rPr lang="it-IT" sz="4400" dirty="0" err="1" smtClean="0"/>
              <a:t>gets</a:t>
            </a:r>
            <a:r>
              <a:rPr lang="it-IT" sz="4400" dirty="0" smtClean="0"/>
              <a:t> </a:t>
            </a:r>
            <a:r>
              <a:rPr lang="it-IT" sz="4400" dirty="0" err="1" smtClean="0"/>
              <a:t>built</a:t>
            </a:r>
            <a:r>
              <a:rPr lang="it-IT" sz="4400" dirty="0" smtClean="0"/>
              <a:t> …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71888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467"/>
          <a:stretch/>
        </p:blipFill>
        <p:spPr>
          <a:xfrm>
            <a:off x="0" y="0"/>
            <a:ext cx="6134100" cy="880110"/>
          </a:xfrm>
          <a:prstGeom prst="rect">
            <a:avLst/>
          </a:prstGeom>
        </p:spPr>
      </p:pic>
      <p:pic>
        <p:nvPicPr>
          <p:cNvPr id="2" name="Immagin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74"/>
          <a:stretch/>
        </p:blipFill>
        <p:spPr>
          <a:xfrm>
            <a:off x="0" y="937260"/>
            <a:ext cx="6134100" cy="5920740"/>
          </a:xfrm>
          <a:prstGeom prst="rect">
            <a:avLst/>
          </a:prstGeom>
        </p:spPr>
      </p:pic>
      <p:cxnSp>
        <p:nvCxnSpPr>
          <p:cNvPr id="4" name="Connettore 1 3"/>
          <p:cNvCxnSpPr/>
          <p:nvPr/>
        </p:nvCxnSpPr>
        <p:spPr>
          <a:xfrm>
            <a:off x="0" y="908267"/>
            <a:ext cx="623524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/>
          <p:cNvSpPr txBox="1"/>
          <p:nvPr/>
        </p:nvSpPr>
        <p:spPr>
          <a:xfrm>
            <a:off x="6595110" y="285750"/>
            <a:ext cx="254889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ADOPT</a:t>
            </a:r>
            <a:br>
              <a:rPr lang="it-IT" dirty="0" smtClean="0"/>
            </a:br>
            <a:r>
              <a:rPr lang="it-IT" dirty="0" smtClean="0"/>
              <a:t>EXECUTION</a:t>
            </a:r>
          </a:p>
          <a:p>
            <a:endParaRPr lang="it-IT" dirty="0"/>
          </a:p>
          <a:p>
            <a:r>
              <a:rPr lang="it-IT" dirty="0" err="1" smtClean="0"/>
              <a:t>Messages</a:t>
            </a:r>
            <a:r>
              <a:rPr lang="it-IT" dirty="0" smtClean="0"/>
              <a:t>:</a:t>
            </a:r>
          </a:p>
          <a:p>
            <a:endParaRPr lang="it-IT" dirty="0"/>
          </a:p>
          <a:p>
            <a:endParaRPr lang="it-IT" dirty="0" smtClean="0"/>
          </a:p>
          <a:p>
            <a:r>
              <a:rPr lang="it-IT" dirty="0" smtClean="0"/>
              <a:t>VALUE</a:t>
            </a:r>
            <a:br>
              <a:rPr lang="it-IT" dirty="0" smtClean="0"/>
            </a:br>
            <a:r>
              <a:rPr lang="it-IT" dirty="0" err="1" smtClean="0"/>
              <a:t>Propagates</a:t>
            </a:r>
            <a:r>
              <a:rPr lang="it-IT" dirty="0" smtClean="0"/>
              <a:t> </a:t>
            </a:r>
            <a:r>
              <a:rPr lang="it-IT" dirty="0" err="1" smtClean="0"/>
              <a:t>Current</a:t>
            </a:r>
            <a:r>
              <a:rPr lang="it-IT" dirty="0"/>
              <a:t/>
            </a:r>
            <a:br>
              <a:rPr lang="it-IT" dirty="0"/>
            </a:br>
            <a:r>
              <a:rPr lang="it-IT" dirty="0" err="1" smtClean="0"/>
              <a:t>Variable</a:t>
            </a:r>
            <a:r>
              <a:rPr lang="it-IT" dirty="0" smtClean="0"/>
              <a:t> </a:t>
            </a:r>
            <a:r>
              <a:rPr lang="it-IT" dirty="0" err="1" smtClean="0"/>
              <a:t>Assignemnts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>COST:</a:t>
            </a:r>
            <a:br>
              <a:rPr lang="it-IT" dirty="0" smtClean="0"/>
            </a:br>
            <a:r>
              <a:rPr lang="it-IT" dirty="0" err="1" smtClean="0"/>
              <a:t>Propagates</a:t>
            </a:r>
            <a:r>
              <a:rPr lang="it-IT" dirty="0" smtClean="0"/>
              <a:t> </a:t>
            </a:r>
            <a:r>
              <a:rPr lang="it-IT" dirty="0" err="1" smtClean="0"/>
              <a:t>Current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err="1" smtClean="0"/>
              <a:t>Bounds</a:t>
            </a:r>
            <a:r>
              <a:rPr lang="it-IT" dirty="0" smtClean="0"/>
              <a:t> </a:t>
            </a:r>
            <a:r>
              <a:rPr lang="it-IT" dirty="0" err="1" smtClean="0"/>
              <a:t>Extimations</a:t>
            </a:r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r>
              <a:rPr lang="it-IT" dirty="0" smtClean="0"/>
              <a:t>THRESHOLD:</a:t>
            </a:r>
            <a:br>
              <a:rPr lang="it-IT" dirty="0" smtClean="0"/>
            </a:br>
            <a:r>
              <a:rPr lang="it-IT" dirty="0" err="1" smtClean="0"/>
              <a:t>Propagates</a:t>
            </a:r>
            <a:r>
              <a:rPr lang="it-IT" dirty="0" smtClean="0"/>
              <a:t> </a:t>
            </a:r>
            <a:r>
              <a:rPr lang="it-IT" dirty="0" err="1" smtClean="0"/>
              <a:t>Current</a:t>
            </a:r>
            <a:r>
              <a:rPr lang="it-IT" dirty="0" smtClean="0"/>
              <a:t/>
            </a:r>
            <a:br>
              <a:rPr lang="it-IT" dirty="0" smtClean="0"/>
            </a:br>
            <a:r>
              <a:rPr lang="it-IT" dirty="0" smtClean="0"/>
              <a:t>Minimum </a:t>
            </a:r>
            <a:r>
              <a:rPr lang="it-IT" dirty="0" err="1" smtClean="0"/>
              <a:t>Cost</a:t>
            </a:r>
            <a:r>
              <a:rPr lang="it-IT" dirty="0" smtClean="0"/>
              <a:t> </a:t>
            </a:r>
            <a:r>
              <a:rPr lang="it-IT" dirty="0" err="1" smtClean="0"/>
              <a:t>Allowance</a:t>
            </a:r>
            <a:endParaRPr lang="it-IT" dirty="0"/>
          </a:p>
        </p:txBody>
      </p:sp>
      <p:cxnSp>
        <p:nvCxnSpPr>
          <p:cNvPr id="6" name="Connettore 2 5"/>
          <p:cNvCxnSpPr/>
          <p:nvPr/>
        </p:nvCxnSpPr>
        <p:spPr>
          <a:xfrm>
            <a:off x="6783705" y="1885950"/>
            <a:ext cx="1725930" cy="0"/>
          </a:xfrm>
          <a:prstGeom prst="straightConnector1">
            <a:avLst/>
          </a:prstGeom>
          <a:ln w="57150">
            <a:solidFill>
              <a:srgbClr val="01FD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/>
          <p:cNvCxnSpPr/>
          <p:nvPr/>
        </p:nvCxnSpPr>
        <p:spPr>
          <a:xfrm>
            <a:off x="6783705" y="3238500"/>
            <a:ext cx="1725930" cy="0"/>
          </a:xfrm>
          <a:prstGeom prst="straightConnector1">
            <a:avLst/>
          </a:prstGeom>
          <a:ln w="57150">
            <a:solidFill>
              <a:srgbClr val="05C2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/>
          <p:cNvCxnSpPr/>
          <p:nvPr/>
        </p:nvCxnSpPr>
        <p:spPr>
          <a:xfrm>
            <a:off x="6783705" y="4556760"/>
            <a:ext cx="1725930" cy="0"/>
          </a:xfrm>
          <a:prstGeom prst="straightConnector1">
            <a:avLst/>
          </a:prstGeom>
          <a:ln w="57150">
            <a:solidFill>
              <a:srgbClr val="FF9C9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827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2345037" y="3077737"/>
            <a:ext cx="47475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4400" dirty="0" smtClean="0"/>
              <a:t>… ADOPT </a:t>
            </a:r>
            <a:r>
              <a:rPr lang="it-IT" sz="4400" dirty="0" err="1" smtClean="0"/>
              <a:t>goes</a:t>
            </a:r>
            <a:r>
              <a:rPr lang="it-IT" sz="4400" dirty="0" smtClean="0"/>
              <a:t> on …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126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560839" y="1717288"/>
            <a:ext cx="831599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4400" dirty="0" smtClean="0"/>
              <a:t>… the JADE </a:t>
            </a:r>
            <a:r>
              <a:rPr lang="it-IT" sz="4400" dirty="0" err="1" smtClean="0"/>
              <a:t>sniffer</a:t>
            </a:r>
            <a:r>
              <a:rPr lang="it-IT" sz="4400" dirty="0" smtClean="0"/>
              <a:t> “</a:t>
            </a:r>
            <a:r>
              <a:rPr lang="it-IT" sz="4400" dirty="0" err="1" smtClean="0"/>
              <a:t>crashes</a:t>
            </a:r>
            <a:r>
              <a:rPr lang="it-IT" sz="4400" dirty="0" smtClean="0"/>
              <a:t>” </a:t>
            </a:r>
            <a:br>
              <a:rPr lang="it-IT" sz="4400" dirty="0" smtClean="0"/>
            </a:br>
            <a:r>
              <a:rPr lang="it-IT" sz="4400" dirty="0" smtClean="0"/>
              <a:t>more </a:t>
            </a:r>
            <a:r>
              <a:rPr lang="it-IT" sz="4400" dirty="0" err="1" smtClean="0"/>
              <a:t>than</a:t>
            </a:r>
            <a:r>
              <a:rPr lang="it-IT" sz="4400" dirty="0" smtClean="0"/>
              <a:t> once under </a:t>
            </a:r>
            <a:r>
              <a:rPr lang="it-IT" sz="4400" dirty="0" err="1" smtClean="0"/>
              <a:t>heavy</a:t>
            </a:r>
            <a:r>
              <a:rPr lang="it-IT" sz="4400" dirty="0" smtClean="0"/>
              <a:t> </a:t>
            </a:r>
            <a:r>
              <a:rPr lang="it-IT" sz="4400" dirty="0" err="1" smtClean="0"/>
              <a:t>load</a:t>
            </a:r>
            <a:r>
              <a:rPr lang="it-IT" sz="4400" dirty="0" smtClean="0"/>
              <a:t>…</a:t>
            </a:r>
            <a:endParaRPr lang="it-IT" sz="4400" dirty="0"/>
          </a:p>
        </p:txBody>
      </p:sp>
      <p:sp>
        <p:nvSpPr>
          <p:cNvPr id="3" name="CasellaDiTesto 2"/>
          <p:cNvSpPr txBox="1"/>
          <p:nvPr/>
        </p:nvSpPr>
        <p:spPr>
          <a:xfrm>
            <a:off x="186635" y="4229385"/>
            <a:ext cx="8690199" cy="120032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mag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21, 2015 17:41:17 </a:t>
            </a:r>
            <a:r>
              <a:rPr lang="it-IT" dirty="0">
                <a:solidFill>
                  <a:srgbClr val="FF0000"/>
                </a:solidFill>
                <a:latin typeface="Monaco" charset="0"/>
              </a:rPr>
              <a:t>P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M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jade.core.messaging.OutBox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addLast</a:t>
            </a:r>
            <a:endParaRPr lang="it-IT" dirty="0" smtClean="0">
              <a:solidFill>
                <a:srgbClr val="FF0000"/>
              </a:solidFill>
              <a:latin typeface="Monaco" charset="0"/>
            </a:endParaRPr>
          </a:p>
          <a:p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AVVERTENZA: Message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discarded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by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MessageManager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! Queue </a:t>
            </a:r>
            <a:br>
              <a:rPr lang="it-IT" dirty="0" smtClean="0">
                <a:solidFill>
                  <a:srgbClr val="FF0000"/>
                </a:solidFill>
                <a:latin typeface="Monaco" charset="0"/>
              </a:rPr>
            </a:b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	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size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&gt; 100000000,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number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of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pending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messages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= 860145, </a:t>
            </a:r>
            <a:br>
              <a:rPr lang="it-IT" dirty="0" smtClean="0">
                <a:solidFill>
                  <a:srgbClr val="FF0000"/>
                </a:solidFill>
                <a:latin typeface="Monaco" charset="0"/>
              </a:rPr>
            </a:b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	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size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of last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message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= 1576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324493" y="4607687"/>
            <a:ext cx="8651812" cy="120032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mag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21, 2015 17:53:17 </a:t>
            </a:r>
            <a:r>
              <a:rPr lang="it-IT" dirty="0">
                <a:solidFill>
                  <a:srgbClr val="FF0000"/>
                </a:solidFill>
                <a:latin typeface="Monaco" charset="0"/>
              </a:rPr>
              <a:t>P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M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jade.core.messaging.OutBox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addLast</a:t>
            </a:r>
            <a:endParaRPr lang="it-IT" dirty="0" smtClean="0">
              <a:solidFill>
                <a:srgbClr val="FF0000"/>
              </a:solidFill>
              <a:latin typeface="Monaco" charset="0"/>
            </a:endParaRPr>
          </a:p>
          <a:p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AVVERTENZA: Message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discarded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by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MessageManager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! Queue </a:t>
            </a:r>
            <a:br>
              <a:rPr lang="it-IT" dirty="0" smtClean="0">
                <a:solidFill>
                  <a:srgbClr val="FF0000"/>
                </a:solidFill>
                <a:latin typeface="Monaco" charset="0"/>
              </a:rPr>
            </a:b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	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size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&gt; 100000000,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number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of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pending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messages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= 88117, </a:t>
            </a:r>
            <a:br>
              <a:rPr lang="it-IT" dirty="0" smtClean="0">
                <a:solidFill>
                  <a:srgbClr val="FF0000"/>
                </a:solidFill>
                <a:latin typeface="Monaco" charset="0"/>
              </a:rPr>
            </a:b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	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size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of last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message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= 738</a:t>
            </a:r>
            <a:endParaRPr lang="it-IT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511128" y="4975669"/>
            <a:ext cx="8552341" cy="120032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mag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21, 2015 17:57:17 </a:t>
            </a:r>
            <a:r>
              <a:rPr lang="it-IT" dirty="0">
                <a:solidFill>
                  <a:srgbClr val="FF0000"/>
                </a:solidFill>
                <a:latin typeface="Monaco" charset="0"/>
              </a:rPr>
              <a:t>P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M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jade.core.messaging.OutBox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addLast</a:t>
            </a:r>
            <a:endParaRPr lang="it-IT" dirty="0" smtClean="0">
              <a:solidFill>
                <a:srgbClr val="FF0000"/>
              </a:solidFill>
              <a:latin typeface="Monaco" charset="0"/>
            </a:endParaRPr>
          </a:p>
          <a:p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AVVERTENZA: Message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discarded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by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MessageManager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! Queue </a:t>
            </a:r>
            <a:br>
              <a:rPr lang="it-IT" dirty="0" smtClean="0">
                <a:solidFill>
                  <a:srgbClr val="FF0000"/>
                </a:solidFill>
                <a:latin typeface="Monaco" charset="0"/>
              </a:rPr>
            </a:b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	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size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&gt; 100000000,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number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of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pending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messages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= 86124, </a:t>
            </a:r>
            <a:br>
              <a:rPr lang="it-IT" dirty="0" smtClean="0">
                <a:solidFill>
                  <a:srgbClr val="FF0000"/>
                </a:solidFill>
                <a:latin typeface="Monaco" charset="0"/>
              </a:rPr>
            </a:b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	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size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of last </a:t>
            </a:r>
            <a:r>
              <a:rPr lang="it-IT" dirty="0" err="1" smtClean="0">
                <a:solidFill>
                  <a:srgbClr val="FF0000"/>
                </a:solidFill>
                <a:latin typeface="Monaco" charset="0"/>
              </a:rPr>
              <a:t>message</a:t>
            </a:r>
            <a:r>
              <a:rPr lang="it-IT" dirty="0" smtClean="0">
                <a:solidFill>
                  <a:srgbClr val="FF0000"/>
                </a:solidFill>
                <a:latin typeface="Monaco" charset="0"/>
              </a:rPr>
              <a:t> = 1690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7218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82"/>
          <a:stretch/>
        </p:blipFill>
        <p:spPr>
          <a:xfrm>
            <a:off x="0" y="868680"/>
            <a:ext cx="6261100" cy="1234440"/>
          </a:xfrm>
          <a:prstGeom prst="rect">
            <a:avLst/>
          </a:prstGeom>
        </p:spPr>
      </p:pic>
      <p:pic>
        <p:nvPicPr>
          <p:cNvPr id="3" name="Immagin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579"/>
          <a:stretch/>
        </p:blipFill>
        <p:spPr>
          <a:xfrm>
            <a:off x="0" y="0"/>
            <a:ext cx="6261100" cy="792480"/>
          </a:xfrm>
          <a:prstGeom prst="rect">
            <a:avLst/>
          </a:prstGeom>
        </p:spPr>
      </p:pic>
      <p:cxnSp>
        <p:nvCxnSpPr>
          <p:cNvPr id="4" name="Connettore 1 3"/>
          <p:cNvCxnSpPr/>
          <p:nvPr/>
        </p:nvCxnSpPr>
        <p:spPr>
          <a:xfrm>
            <a:off x="0" y="839687"/>
            <a:ext cx="623524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rentesi graffa chiusa 4"/>
          <p:cNvSpPr/>
          <p:nvPr/>
        </p:nvSpPr>
        <p:spPr>
          <a:xfrm>
            <a:off x="6352540" y="839687"/>
            <a:ext cx="340497" cy="119860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/>
          <p:cNvSpPr txBox="1"/>
          <p:nvPr/>
        </p:nvSpPr>
        <p:spPr>
          <a:xfrm>
            <a:off x="6693037" y="1117163"/>
            <a:ext cx="15439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mtClean="0"/>
              <a:t>TERMINATION</a:t>
            </a:r>
            <a:br>
              <a:rPr lang="it-IT" smtClean="0"/>
            </a:br>
            <a:r>
              <a:rPr lang="it-IT" smtClean="0"/>
              <a:t>PROPAGATION</a:t>
            </a:r>
            <a:endParaRPr lang="it-IT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200" y="3023870"/>
            <a:ext cx="5435600" cy="3073400"/>
          </a:xfrm>
          <a:prstGeom prst="rect">
            <a:avLst/>
          </a:prstGeom>
        </p:spPr>
      </p:pic>
      <p:cxnSp>
        <p:nvCxnSpPr>
          <p:cNvPr id="9" name="Connettore 2 8"/>
          <p:cNvCxnSpPr/>
          <p:nvPr/>
        </p:nvCxnSpPr>
        <p:spPr>
          <a:xfrm flipV="1">
            <a:off x="4331970" y="2811780"/>
            <a:ext cx="2957830" cy="10058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/>
          <p:cNvSpPr txBox="1"/>
          <p:nvPr/>
        </p:nvSpPr>
        <p:spPr>
          <a:xfrm>
            <a:off x="7289800" y="2377539"/>
            <a:ext cx="14012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/>
              <a:t>VIOLATES</a:t>
            </a:r>
            <a:br>
              <a:rPr lang="it-IT" dirty="0" smtClean="0"/>
            </a:br>
            <a:r>
              <a:rPr lang="it-IT" dirty="0" smtClean="0"/>
              <a:t>CONSTRAINT</a:t>
            </a:r>
            <a:br>
              <a:rPr lang="it-IT" dirty="0" smtClean="0"/>
            </a:br>
            <a:r>
              <a:rPr lang="it-IT" dirty="0" smtClean="0"/>
              <a:t>a&lt;-&gt;d</a:t>
            </a:r>
            <a:br>
              <a:rPr lang="it-IT" dirty="0" smtClean="0"/>
            </a:br>
            <a:r>
              <a:rPr lang="it-IT" dirty="0" smtClean="0"/>
              <a:t>SET BY</a:t>
            </a:r>
            <a:br>
              <a:rPr lang="it-IT" dirty="0" smtClean="0"/>
            </a:br>
            <a:r>
              <a:rPr lang="it-IT" dirty="0" smtClean="0"/>
              <a:t>AGENT </a:t>
            </a:r>
            <a:r>
              <a:rPr lang="it-IT" dirty="0" err="1" smtClean="0"/>
              <a:t>agD</a:t>
            </a:r>
            <a:endParaRPr lang="it-IT" dirty="0"/>
          </a:p>
        </p:txBody>
      </p:sp>
      <p:sp>
        <p:nvSpPr>
          <p:cNvPr id="11" name="Ovale 10"/>
          <p:cNvSpPr/>
          <p:nvPr/>
        </p:nvSpPr>
        <p:spPr>
          <a:xfrm>
            <a:off x="4846320" y="4743450"/>
            <a:ext cx="674370" cy="21717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/>
          <p:cNvSpPr/>
          <p:nvPr/>
        </p:nvSpPr>
        <p:spPr>
          <a:xfrm>
            <a:off x="4154805" y="4983480"/>
            <a:ext cx="674370" cy="21717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111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 smtClean="0"/>
              <a:t>Conclusions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28650" y="1628384"/>
            <a:ext cx="6924545" cy="5567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As</a:t>
            </a:r>
            <a:r>
              <a:rPr lang="it-IT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theoretically</a:t>
            </a:r>
            <a:r>
              <a:rPr lang="it-IT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stated</a:t>
            </a:r>
            <a:r>
              <a:rPr lang="it-IT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it-IT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it-IT" dirty="0" smtClean="0"/>
              <a:t>ADOPT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not</a:t>
            </a:r>
            <a:r>
              <a:rPr lang="it-IT" dirty="0" smtClean="0"/>
              <a:t> </a:t>
            </a:r>
            <a:r>
              <a:rPr lang="it-IT" dirty="0" err="1" smtClean="0"/>
              <a:t>practical</a:t>
            </a:r>
            <a:r>
              <a:rPr lang="it-IT" dirty="0" smtClean="0"/>
              <a:t> </a:t>
            </a:r>
            <a:r>
              <a:rPr lang="it-IT" dirty="0" err="1" smtClean="0"/>
              <a:t>even</a:t>
            </a:r>
            <a:r>
              <a:rPr lang="it-IT" dirty="0" smtClean="0"/>
              <a:t> in </a:t>
            </a:r>
            <a:r>
              <a:rPr lang="it-IT" b="1" dirty="0" smtClean="0"/>
              <a:t>medium </a:t>
            </a:r>
            <a:r>
              <a:rPr lang="it-IT" b="1" dirty="0" err="1" smtClean="0"/>
              <a:t>complexity</a:t>
            </a:r>
            <a:r>
              <a:rPr lang="it-IT" b="1" dirty="0" smtClean="0"/>
              <a:t> </a:t>
            </a:r>
            <a:r>
              <a:rPr lang="it-IT" dirty="0" err="1" smtClean="0"/>
              <a:t>situations</a:t>
            </a:r>
            <a:endParaRPr lang="it-IT" dirty="0" smtClean="0"/>
          </a:p>
          <a:p>
            <a:pPr marL="0" indent="0">
              <a:buNone/>
            </a:pPr>
            <a:r>
              <a:rPr lang="it-IT" b="1" dirty="0" smtClean="0"/>
              <a:t>DFS </a:t>
            </a:r>
            <a:r>
              <a:rPr lang="it-IT" b="1" dirty="0" err="1" smtClean="0"/>
              <a:t>tree</a:t>
            </a:r>
            <a:r>
              <a:rPr lang="it-IT" b="1" dirty="0" smtClean="0"/>
              <a:t> </a:t>
            </a:r>
            <a:r>
              <a:rPr lang="it-IT" dirty="0" err="1" smtClean="0"/>
              <a:t>deeply</a:t>
            </a:r>
            <a:r>
              <a:rPr lang="it-IT" dirty="0" smtClean="0"/>
              <a:t> </a:t>
            </a:r>
            <a:r>
              <a:rPr lang="it-IT" dirty="0" err="1" smtClean="0"/>
              <a:t>impacts</a:t>
            </a:r>
            <a:r>
              <a:rPr lang="it-IT" dirty="0" smtClean="0"/>
              <a:t> on ADOPT performance</a:t>
            </a:r>
          </a:p>
          <a:p>
            <a:pPr marL="0" indent="0">
              <a:buNone/>
            </a:pPr>
            <a:r>
              <a:rPr lang="it-IT" dirty="0" err="1" smtClean="0"/>
              <a:t>Exact</a:t>
            </a:r>
            <a:r>
              <a:rPr lang="it-IT" dirty="0" smtClean="0"/>
              <a:t> </a:t>
            </a:r>
            <a:r>
              <a:rPr lang="it-IT" dirty="0" err="1" smtClean="0"/>
              <a:t>solutions</a:t>
            </a:r>
            <a:r>
              <a:rPr lang="it-IT" dirty="0" smtClean="0"/>
              <a:t> are </a:t>
            </a:r>
            <a:r>
              <a:rPr lang="it-IT" dirty="0" err="1" smtClean="0"/>
              <a:t>needed</a:t>
            </a:r>
            <a:r>
              <a:rPr lang="it-IT" dirty="0" smtClean="0"/>
              <a:t> </a:t>
            </a:r>
            <a:r>
              <a:rPr lang="it-IT" dirty="0" err="1" smtClean="0"/>
              <a:t>only</a:t>
            </a:r>
            <a:r>
              <a:rPr lang="it-IT" dirty="0" smtClean="0"/>
              <a:t> in </a:t>
            </a:r>
            <a:r>
              <a:rPr lang="it-IT" dirty="0" err="1" smtClean="0"/>
              <a:t>critical</a:t>
            </a:r>
            <a:r>
              <a:rPr lang="it-IT" dirty="0" smtClean="0"/>
              <a:t> </a:t>
            </a:r>
            <a:r>
              <a:rPr lang="it-IT" dirty="0" err="1" smtClean="0"/>
              <a:t>environment</a:t>
            </a:r>
            <a:r>
              <a:rPr lang="it-IT" dirty="0" smtClean="0"/>
              <a:t> and are </a:t>
            </a:r>
            <a:r>
              <a:rPr lang="it-IT" dirty="0" err="1" smtClean="0"/>
              <a:t>better</a:t>
            </a:r>
            <a:r>
              <a:rPr lang="it-IT" dirty="0" smtClean="0"/>
              <a:t> </a:t>
            </a:r>
            <a:r>
              <a:rPr lang="it-IT" dirty="0" err="1" smtClean="0"/>
              <a:t>addressed</a:t>
            </a:r>
            <a:r>
              <a:rPr lang="it-IT" dirty="0"/>
              <a:t> </a:t>
            </a:r>
            <a:r>
              <a:rPr lang="it-IT" dirty="0" smtClean="0"/>
              <a:t>in a </a:t>
            </a:r>
            <a:r>
              <a:rPr lang="it-IT" b="1" dirty="0" err="1" smtClean="0"/>
              <a:t>centralized</a:t>
            </a:r>
            <a:r>
              <a:rPr lang="it-IT" b="1" dirty="0" smtClean="0"/>
              <a:t> HPC fashion</a:t>
            </a:r>
          </a:p>
          <a:p>
            <a:pPr marL="0" indent="0">
              <a:buNone/>
            </a:pPr>
            <a:endParaRPr lang="it-IT" dirty="0" smtClean="0"/>
          </a:p>
          <a:p>
            <a:pPr marL="0" indent="0">
              <a:buNone/>
            </a:pPr>
            <a:r>
              <a:rPr lang="it-IT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Code </a:t>
            </a:r>
            <a:r>
              <a:rPr lang="it-IT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</a:t>
            </a:r>
            <a:r>
              <a:rPr lang="it-IT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here</a:t>
            </a:r>
            <a:endParaRPr lang="it-IT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it-IT" dirty="0" err="1" smtClean="0"/>
              <a:t>https</a:t>
            </a:r>
            <a:r>
              <a:rPr lang="it-IT" dirty="0"/>
              <a:t>://</a:t>
            </a:r>
            <a:r>
              <a:rPr lang="it-IT" dirty="0" err="1"/>
              <a:t>github.com</a:t>
            </a:r>
            <a:r>
              <a:rPr lang="it-IT" dirty="0"/>
              <a:t>/</a:t>
            </a:r>
            <a:r>
              <a:rPr lang="it-IT" dirty="0" err="1"/>
              <a:t>andredami</a:t>
            </a:r>
            <a:r>
              <a:rPr lang="it-IT" dirty="0"/>
              <a:t>/</a:t>
            </a:r>
            <a:r>
              <a:rPr lang="it-IT" dirty="0" err="1"/>
              <a:t>ims-scheduling</a:t>
            </a:r>
            <a:endParaRPr lang="it-IT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661" y="4412293"/>
            <a:ext cx="1824913" cy="182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56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231</TotalTime>
  <Words>366</Words>
  <Application>Microsoft Macintosh PowerPoint</Application>
  <PresentationFormat>Presentazione su schermo (4:3)</PresentationFormat>
  <Paragraphs>154</Paragraphs>
  <Slides>18</Slides>
  <Notes>17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Monaco</vt:lpstr>
      <vt:lpstr>Symbol</vt:lpstr>
      <vt:lpstr>Wingdings</vt:lpstr>
      <vt:lpstr>Office Theme</vt:lpstr>
      <vt:lpstr>Distributed Meeting Scheduling</vt:lpstr>
      <vt:lpstr>(virtual) Experimental Setting</vt:lpstr>
      <vt:lpstr>Problem Statement</vt:lpstr>
      <vt:lpstr>Solution</vt:lpstr>
      <vt:lpstr>Implementation</vt:lpstr>
      <vt:lpstr>Demo</vt:lpstr>
      <vt:lpstr>SIMULATION Preferences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Conclusions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Meeting Scheduling</dc:title>
  <dc:creator>Andrea Damiani</dc:creator>
  <cp:lastModifiedBy>Emanuele Mason</cp:lastModifiedBy>
  <cp:revision>24</cp:revision>
  <dcterms:created xsi:type="dcterms:W3CDTF">2015-05-21T23:41:14Z</dcterms:created>
  <dcterms:modified xsi:type="dcterms:W3CDTF">2015-05-22T10:16:59Z</dcterms:modified>
</cp:coreProperties>
</file>